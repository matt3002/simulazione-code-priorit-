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4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Teorico</c:v>
                </c:pt>
              </c:strCache>
            </c:strRef>
          </c:tx>
          <c:spPr>
            <a:solidFill>
              <a:srgbClr val="0F2A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p.75 σ.6</c:v>
                  </c:pt>
                  <c:pt idx="1">
                    <c:v>p.75 σ.7</c:v>
                  </c:pt>
                  <c:pt idx="2">
                    <c:v>p.85 σ.6</c:v>
                  </c:pt>
                  <c:pt idx="3">
                    <c:v>p.85 σ.7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3.75</c:v>
                </c:pt>
                <c:pt idx="1">
                  <c:v>2.7273</c:v>
                </c:pt>
                <c:pt idx="2">
                  <c:v>2.3611</c:v>
                </c:pt>
                <c:pt idx="3">
                  <c:v>1.9101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Simulato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p.75 σ.6</c:v>
                  </c:pt>
                  <c:pt idx="1">
                    <c:v>p.75 σ.7</c:v>
                  </c:pt>
                  <c:pt idx="2">
                    <c:v>p.85 σ.6</c:v>
                  </c:pt>
                  <c:pt idx="3">
                    <c:v>p.85 σ.7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3.7469</c:v>
                </c:pt>
                <c:pt idx="1">
                  <c:v>2.7322</c:v>
                </c:pt>
                <c:pt idx="2">
                  <c:v>2.3604</c:v>
                </c:pt>
                <c:pt idx="3">
                  <c:v>1.9126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78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B6B78"/>
                    </a:solidFill>
                    <a:latin typeface="Arial"/>
                  </a:rPr>
                  <a:t>E[W1] (slot)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2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θ₁ Coda 1</c:v>
                </c:pt>
              </c:strCache>
            </c:strRef>
          </c:tx>
          <c:spPr>
            <a:solidFill>
              <a:srgbClr val="0F2A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  <c:pt idx="3">
                    <c:v>c4</c:v>
                  </c:pt>
                  <c:pt idx="4">
                    <c:v>c5</c:v>
                  </c:pt>
                  <c:pt idx="5">
                    <c:v>c6</c:v>
                  </c:pt>
                  <c:pt idx="6">
                    <c:v>c7</c:v>
                  </c:pt>
                  <c:pt idx="7">
                    <c:v>c8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0.333</c:v>
                </c:pt>
                <c:pt idx="1">
                  <c:v>0.334</c:v>
                </c:pt>
                <c:pt idx="2">
                  <c:v>0.333</c:v>
                </c:pt>
                <c:pt idx="3">
                  <c:v>0.334</c:v>
                </c:pt>
                <c:pt idx="4">
                  <c:v>0.177</c:v>
                </c:pt>
                <c:pt idx="5">
                  <c:v>0.177</c:v>
                </c:pt>
                <c:pt idx="6">
                  <c:v>0.176</c:v>
                </c:pt>
                <c:pt idx="7">
                  <c:v>0.177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θ₂ Coda 2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  <c:pt idx="3">
                    <c:v>c4</c:v>
                  </c:pt>
                  <c:pt idx="4">
                    <c:v>c5</c:v>
                  </c:pt>
                  <c:pt idx="5">
                    <c:v>c6</c:v>
                  </c:pt>
                  <c:pt idx="6">
                    <c:v>c7</c:v>
                  </c:pt>
                  <c:pt idx="7">
                    <c:v>c8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</c:v>
                </c:pt>
                <c:pt idx="1">
                  <c:v>0.2</c:v>
                </c:pt>
                <c:pt idx="2">
                  <c:v>0.267</c:v>
                </c:pt>
                <c:pt idx="3">
                  <c:v>0.3</c:v>
                </c:pt>
                <c:pt idx="4">
                  <c:v>0.2</c:v>
                </c:pt>
                <c:pt idx="5">
                  <c:v>0.2</c:v>
                </c:pt>
                <c:pt idx="6">
                  <c:v>0.3</c:v>
                </c:pt>
                <c:pt idx="7">
                  <c:v>0.301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78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B6B78"/>
                    </a:solidFill>
                    <a:latin typeface="Arial"/>
                  </a:rPr>
                  <a:t>utenti/slot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2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E[W2] Coda 2 (slot)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4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ρ.54</c:v>
                  </c:pt>
                  <c:pt idx="1">
                    <c:v>ρ.63</c:v>
                  </c:pt>
                  <c:pt idx="2">
                    <c:v>ρ.68</c:v>
                  </c:pt>
                  <c:pt idx="3">
                    <c:v>ρ.76</c:v>
                  </c:pt>
                  <c:pt idx="4">
                    <c:v>ρ.79</c:v>
                  </c:pt>
                  <c:pt idx="5">
                    <c:v>ρ.89</c:v>
                  </c:pt>
                  <c:pt idx="6">
                    <c:v>ρ.90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3.29</c:v>
                </c:pt>
                <c:pt idx="1">
                  <c:v>5.1</c:v>
                </c:pt>
                <c:pt idx="2">
                  <c:v>4.55</c:v>
                </c:pt>
                <c:pt idx="3">
                  <c:v>8.9</c:v>
                </c:pt>
                <c:pt idx="4">
                  <c:v>8.78</c:v>
                </c:pt>
                <c:pt idx="5">
                  <c:v>27.19</c:v>
                </c:pt>
                <c:pt idx="6">
                  <c:v>21.32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4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78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B6B78"/>
                    </a:solidFill>
                    <a:latin typeface="Arial"/>
                  </a:rPr>
                  <a:t>E[W2] (slot)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E[L1] Coda 1</c:v>
                </c:pt>
              </c:strCache>
            </c:strRef>
          </c:tx>
          <c:spPr>
            <a:solidFill>
              <a:srgbClr val="0F2A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p.85 σ.7</c:v>
                  </c:pt>
                  <c:pt idx="1">
                    <c:v>p.85 σ.6</c:v>
                  </c:pt>
                  <c:pt idx="2">
                    <c:v>p.75 σ.7</c:v>
                  </c:pt>
                  <c:pt idx="3">
                    <c:v>p.75 σ.6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0.338</c:v>
                </c:pt>
                <c:pt idx="1">
                  <c:v>0.417</c:v>
                </c:pt>
                <c:pt idx="2">
                  <c:v>0.912</c:v>
                </c:pt>
                <c:pt idx="3">
                  <c:v>1.249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E[L2] Coda 2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p.85 σ.7</c:v>
                  </c:pt>
                  <c:pt idx="1">
                    <c:v>p.85 σ.6</c:v>
                  </c:pt>
                  <c:pt idx="2">
                    <c:v>p.75 σ.7</c:v>
                  </c:pt>
                  <c:pt idx="3">
                    <c:v>p.75 σ.6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0.658</c:v>
                </c:pt>
                <c:pt idx="1">
                  <c:v>1.022</c:v>
                </c:pt>
                <c:pt idx="2">
                  <c:v>1.779</c:v>
                </c:pt>
                <c:pt idx="3">
                  <c:v>5.434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78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B6B78"/>
                    </a:solidFill>
                    <a:latin typeface="Arial"/>
                  </a:rPr>
                  <a:t>utenti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2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DI SISTEMI  ·  PROGETTO 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 tempo discreto con priorità assoluta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interruzioni casuali del server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a server singolo con scheduling a priorità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937760"/>
            <a:ext cx="29260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120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Pio Trotta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matteopio.trotta@studio.unibo.it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0" y="5852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OMNeT++ 6.3.0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Struttura della presentazione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510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 e obiettivi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65392" y="197510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97510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0" y="1828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Fondamenti teorici dal paper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88950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88950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2743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analitico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288950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288950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0" y="2743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in OMNeT++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80390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80390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37360" y="3657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sperimentale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36576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65392" y="380390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380390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98080" y="3657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e analisi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457200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4718304"/>
            <a:ext cx="77724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71830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37360" y="45720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7315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PRIMA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 e obiettivi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simuliamo e perché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in studio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6751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di code a tempo discreto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6126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classi di utenti (Tipo 1 e Tipo 2) in due code distinte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server condiviso tra le due code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 assoluta agli utenti di Tipo 1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è inaffidabile: disponibile solo con probabilità σ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discretizzato in slot; servizio = 1 slot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680960" y="173736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è interessante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0" y="25146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tre aspetti raramente studiati insieme: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accoppiate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interruzioni del server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 priorità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Obiettivi del progetto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783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Tradurre la variante Option A in un simulatore a eventi discreti OMNeT++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660904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163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66090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Sperimentare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2660904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configurazioni parametriche × 20 run indipendenti = 160 esecuzioni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538728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53872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353872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Delay, throughput e lunghezza code, con stime puntuali e intervalli di confidenza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416552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44165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il transiente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31920" y="441655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Individuare e rimuovere il bias di inizializzazione (warm-up)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294376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4498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449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08760" y="529437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31920" y="5294376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Confrontare i risultati simulativi con il modello analitico di riferimento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7315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SECONDA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Fondamenti teorici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paper di Bruneel &amp; Devos (2025)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L'articolo di riferimento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0" cy="4206240"/>
          </a:xfrm>
          <a:prstGeom prst="roundRect">
            <a:avLst>
              <a:gd name="adj" fmla="val 2174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Bruneel &amp; Devos (2025)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"Coupled queues with server interruptions: Some solutions"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Evaluation, vol. 167 (2025), art. 102466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10.1016/j.peva.2024.102466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autori derivano e risolvono le equazioni funzionali per la pgf congiunta stazionaria del contenuto delle due code, usando il teorema di Rouché.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0" y="173736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Ipotesi comuni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0" y="246888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classi di utenti, due code separate a capacità infinita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deterministico di 1 time slot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 indipendenti da slot a slot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pgf congiunta A(z₁, z₂) per gli arrivi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tre architetture del paper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 condiviso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priorità assoluta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unico interrotto (Bernoulli). Priorità al Tipo 1.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il nostro modello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server dedicati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interruzioni simultanee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703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server per coda, interrotti insieme.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server dedicati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interruzioni solo Coda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703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Coda 1 sempre attivo; Coda 2 interrotta.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nostra variante dell'Option 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 rispetto al modello generale:   </a:t>
            </a:r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 delle due classi statisticamente indipendenti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A(z₁, z₂) = A₁(z₁) · A₂(z₂)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5349240" cy="2560320"/>
          </a:xfrm>
          <a:prstGeom prst="roundRect">
            <a:avLst>
              <a:gd name="adj" fmla="val 3571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1 — Geometrica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A₁(u₁) = p (1 − p)^u₁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 medio:  λ₁ = (1 − p) / 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212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∈ {0.75, 0.85}  →  λ₁ ∈ {0.333, 0.176}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3383280"/>
            <a:ext cx="5349240" cy="2560320"/>
          </a:xfrm>
          <a:prstGeom prst="roundRect">
            <a:avLst>
              <a:gd name="adj" fmla="val 357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2 — Poisson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4114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A₂(u₂) = (q^u₂ / u₂!) e^(−q)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4709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 medio:  λ₂ = q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5212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∈ {0.2, 0.3}  →  λ₂ ∈ {0.2, 0.3}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L'equazione funzionale (Option A)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sullo stato (u₁,k, u₂,k) e passaggio al limite stazionario porta a: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U(z₁,z₂) = σ A(z₁,z₂) · [(z₁−z₂)U(0,z₂) + z₁(z₂−1)U(0,0)] / { z₂ [z₁ − (σ+(1−σ)z₁) A(z₁,z₂)] 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4F8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chiave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Determinare la funzione di bordo U(0,z₂) e la costante U(0,0).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alla priorità c'è una sola funzione incognita: il modello è risolvibile.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37490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di Rouché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la condizione di stabilità, il denominatore ha esattamente uno zero z₁ = r(z₂) nel disco unitario.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Annullando lì il numeratore si ricava U(0,z₂).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Risultati teorici per la validazione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della Coda 1 (Eq. 5 del paper)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U₁(z₁) = (σ − λ₁)(z₁ − 1) A₁(z₁) / { z₁ − [σ + (1 − σ)z₁] A₁(z₁) 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λ₁ + λ₂ &lt; 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work-conserving: stabile sse il carico totale è sotto la capacità.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32004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3383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Coda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3931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E[W₁] = 1 / (σ − λ₁)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34840" y="4572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Derivata da U₁ + Legge di Little. È la formula che useremo per validare il simulatore.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63840" y="320040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saturo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9244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θ₂ = σ − λ₁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9244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λ_T &gt; σ, la Coda 2 satura alla capacità residua del server.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7315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TERZA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modello analitico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Regole, dinamica e stabilità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1 — Tipo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 (p)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6576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2 — Tipo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(q)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651760"/>
            <a:ext cx="1371600" cy="68580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4069080"/>
            <a:ext cx="1371600" cy="-68580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2743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disponibile con 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3429000"/>
            <a:ext cx="914400" cy="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0" y="3154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uscita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0" y="219456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15400" y="2834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code infinite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1 slot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Interruzioni Bernoulli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regola di priorità assoluta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decide il server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disponibile? (prob. σ)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Coda 1 non vuota → servi Coda 1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Altrimenti se Coda 2 non vuota → servi Coda 2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utente di Coda 2 attende finché Coda 1 non è vuota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Conseguenza fondamentale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5603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Coda 1 "non vede" la Coda 2.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contenuto della Coda 1 evolve come se la Coda 2 non esistesse: si comporta come una coda singola con server interrotto.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isolamento è la chiave che rende il modello risolvibile analiticamente.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Dinamica temporale: Late Arrival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All'interno di ogni time slot k, l'ordine degli eventi è rigorosamente: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5960" y="36118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SERVIZIO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serve un utente già presente all'inizio dello slot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9080" y="4572000"/>
            <a:ext cx="274320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338328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36118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4892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generano i nuovi arrivi (geometrica + Poisson)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4572000"/>
            <a:ext cx="274320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338328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72600" y="3611880"/>
            <a:ext cx="731520" cy="73152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STATISTICHE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75320" y="4892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registrano lunghezza, delay e throughput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utente arrivato nello slot k è servibile non prima dello slot k+1 → servizio minimo di 1 slot garantito.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8 configurazioni e il carico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1097280"/>
                <a:gridCol w="1097280"/>
                <a:gridCol w="1234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= λ_T/σ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828800"/>
            <a:ext cx="3246120" cy="3657600"/>
          </a:xfrm>
          <a:prstGeom prst="roundRect">
            <a:avLst>
              <a:gd name="adj" fmla="val 2817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03920" y="2011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Spettro di carico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03920" y="2514600"/>
            <a:ext cx="2788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ρ ≈ 0.54 (scarico) a ρ ≈ 1.06 (saturo).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configurazione viola la stabilità (OK = stabile, NO = instabile).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7315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QUARTA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 in OMNeT++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modello al codice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tre file del progetto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SistemaPriorita.ned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della rete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5943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modulo semplice ModuloCode, con 6 segnali e 6 statistiche per le tre metriche su entrambe le code.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ModuloCode.cc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di simulazione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3200400"/>
            <a:ext cx="5943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il comportamento slot-per-slot: servizio con priorità, generazione arrivi, raccolta dati.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800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omnetpp.ini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campagna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4617720"/>
            <a:ext cx="5943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Definisce le 8 configurazioni, le 20 repliche, il warm-up e la durata di simulazione.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Snippet 1 — La logica di servizio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160520"/>
          </a:xfrm>
          <a:prstGeom prst="roundRect">
            <a:avLst>
              <a:gd name="adj" fmla="val 1758"/>
            </a:avLst>
          </a:prstGeom>
          <a:solidFill>
            <a:srgbClr val="0B1F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61264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Disponibilità del server (Bernoulli)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serverAvailable = uniform(0,1) &lt; sigma;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(serverAvailable)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(!queue1.empty()) {        // priorità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emit(q1Delay, simTime()-queue1.front());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queue1.pop();  served1 = 1;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(!queue2.empty())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emit(q2Delay, simTime()-queue2.front());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queue2.pop();  served2 = 1;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06640" y="1783080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fa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35240" y="242316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 la disponibilità del server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 la priorità: prima Coda 1, poi (solo se vuota) Coda 2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il delay come simTime() − timestamp di arrivo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= 1 marca lo slot come "servito" per il throughput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Snippet 2 — Generazione degli arrivi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3657600"/>
          </a:xfrm>
          <a:prstGeom prst="roundRect">
            <a:avLst>
              <a:gd name="adj" fmla="val 2000"/>
            </a:avLst>
          </a:prstGeom>
          <a:solidFill>
            <a:srgbClr val="0B1F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6126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Nuovi arrivi (dopo il servizio)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a1 = geometric(p);   // Tipo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i&lt;a1; i++)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queue1.push(simTime());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a2 = poisson(q);     // Tipo 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i&lt;a2; i++)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queue2.push(simTime());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06640" y="178308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Punti chiave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35240" y="24231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geometric(p) e poisson(q) di OMNeT++ generano gli arrivi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salva il timestamp di arrivo, non un semplice contatore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Avviene DOPO il servizio: semantica LAS rispettata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57784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4F8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std::queue&lt;simtime_t&gt;  →  conservare il timestamp permette di calcolare il delay esatto di ogni utente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Snippet 3 — Raccolta delle metriche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3108960"/>
          </a:xfrm>
          <a:prstGeom prst="roundRect">
            <a:avLst>
              <a:gd name="adj" fmla="val 2353"/>
            </a:avLst>
          </a:prstGeom>
          <a:solidFill>
            <a:srgbClr val="0B1F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6126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Statistiche di fine slot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emit(q1Len, (int)queue1.size());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emit(q2Len, (int)queue2.size());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emit(q1Throughput, served1);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emit(q2Throughput, served2);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scheduleAt(simTime()+1.0, slotEvent);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06640" y="178308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segnali, tre metriche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35240" y="24231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Lunghezza: size() della coda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0/1 per slot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Delay: emesso al servizio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variabili binarie per il throughput?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medio di una sequenza di Bernoulli (1 = servito) coincide col throughput. L'aggregazione e la rimozione del transiente sono delegate al motore di OMNeT++.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campagna batch (omnetpp.ini)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3474720"/>
          </a:xfrm>
          <a:prstGeom prst="roundRect">
            <a:avLst>
              <a:gd name="adj" fmla="val 2105"/>
            </a:avLst>
          </a:prstGeom>
          <a:solidFill>
            <a:srgbClr val="0B1F3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[General]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= SistemaPriorita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sim-time-limit = 200000s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= 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warmup-period = 10000s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**.p     = ${p_val=0.75, 0.85}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**.q     = ${q_val=0.2, 0.3}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**.sigma = ${sigma_val=0.6, 0.7}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06640" y="178308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Iterazione automatica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35240" y="24231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sintassi ${...} genera il prodotto cartesiano dei parametri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2 × 2 = 8 configurazioni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20 repliche = 160 run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indipendenti per replica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55321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Esecuzione: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./Progetto10.exe -m -u Cmdenv -c General omnetpp.ini   →   Run statistics: total 160, successful 160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7315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QUINTA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sperimentale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Transiente e analisi statistica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del transiente iniziale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esiste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 = 0 il sistema è vuoto: stato non rappresentativo del regime stazionario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devono "riempirsi" prima di stabilizzarsi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Includere questi campioni causa una sottostima delle metriche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soluzione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period: si scartano i campioni iniziali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simulatore evolve ma non registra statistiche fino alla fine del warm-up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medie riflettono solo il regime stazionario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Dimensionamento con il metodo di Welch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Moving Averages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mediano R repliche slot-per-slot, poi si applica una media mobile per filtrare il rumore. Il warm-up termina dove la curva si appiattisce.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977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Metrica analizzata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Lunghezza della Coda 2 nella configurazione più carica (ρ ≈ 0.89): è la più lenta a convergere, quindi la più conservativa.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8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3977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Scelta finale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4434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 ben prima di 10.000 slot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warmup-period = 10.000 s (margine cautelativo)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Intervalli di confidenza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5778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replications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repliche indipendenti per configurazione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replica → una stima puntuale (media post-warm-up)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20 stime sono i.i.d. → IC validi</a:t>
            </a:r>
            <a:endParaRPr lang="en-US" sz="14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 30 e varianza ignota → t di Student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75120" y="260604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IC₉₅% = X̄ ± t₀.₀₂₅,₁₉ · S/√N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402336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N − 1 = 19 gradi di libertà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t₀.₀₂₅,₁₉ ≈ 2.093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Automazione dell'analisi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analisi_risultati.py</a:t>
            </a:r>
            <a:pPr indent="0" marL="0">
              <a:buNone/>
            </a:pPr>
            <a:r>
              <a:rPr lang="en-US" sz="15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uno script Python (senza dipendenze) estrae i dati dai 160 file .sca e calcola medie e IC.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3657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file .sca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08960" y="4114800"/>
            <a:ext cx="320040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3474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36576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4251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+ raggruppamento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97880" y="4114800"/>
            <a:ext cx="320040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3474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3657600"/>
            <a:ext cx="548640" cy="548640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4251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+ IC (t-Student)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0" y="4114800"/>
            <a:ext cx="320040" cy="0"/>
          </a:xfrm>
          <a:prstGeom prst="line">
            <a:avLst/>
          </a:prstGeom>
          <a:noFill/>
          <a:ln w="3175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06840" y="3474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66960" y="3657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996696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0" y="4251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finali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Riproducibilità totale: chiunque può rigenerare le tabelle della relazione lanciando lo script.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7315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SESTA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Risultati e analisi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e interpretazione dei dati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Validazione: E[W₁] = 1/(σ − λ₁)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21945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2331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0.25%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58952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massimo simulato vs teorico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40233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E[W₁] è indipendente da q.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sperimentale dell'isolamento della classe prioritaria.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· METRICA 1/3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2011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Lettura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01000" y="24688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Nelle 7 config. stabili θᵢ ≈ λᵢ: tutto il traffico è smaltito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(instabile): θ₂ si ferma a 0.267 = σ − λ₁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θ₁ resta sempre = λ₁, indifferente al carico di Coda 2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· METRICA 2/3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medio di permanenza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2011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Crescita iperbolica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4688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delay di Coda 2 esplode verso la saturazione (ρ→1)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di q può più che raddoppiare E[W2]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E[W1] invece resta piatto: 1.9–3.7 slot in tutti i casi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· METRICA 3/3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Lunghezza media delle code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2011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Lettura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01000" y="24688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1 sempre corta (0.34–1.25): la priorità la svuota in fretta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2 fa da buffer: cresce con il carico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Coerente con la Legge di Little E[L]=λE[W]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del caso instabile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p=0.75, q=0.3, σ=0.6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λ_T = 0.633 &gt; σ = 0.6   →   ρ = 1.056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1 resta stabile (λ₁ = 0.333 &lt; σ)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θ₁ = 0.333: la priorità protegge la classe 1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2 diverge: lunghezza e delay crescono senza limite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θ₂ satura a σ − λ₁ = 0.267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quantitativa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2606040"/>
            <a:ext cx="4663440" cy="146304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7432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θ₂ teorico = σ − λ₁ = 0.2667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θ₂ simulato = 0.2670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= 0.13%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42519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deficit λ₂ − θ₂ = 0.033 utenti/slot si accumula indefinitamente: la coda cresce linearmente nel tempo. La simulazione cattura perfettamente il collasso previsto dalla teoria.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Consistenza interna: Legge di Little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test indipendente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E[L] = λ · E[W] lega due metriche stimate da segnali completamente diversi: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lunghezza: campionata a fine slot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delay: misurato per-utente al servizio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 relazione regge, il simulatore è internamente consistente.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1783080"/>
            <a:ext cx="4754880" cy="4160520"/>
          </a:xfrm>
          <a:prstGeom prst="roundRect">
            <a:avLst>
              <a:gd name="adj" fmla="val 219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0" y="265176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8803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040880" y="38862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scarto massimo su tutte 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configurazioni stabili,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entrambe le code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7315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SETTIMA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abbiamo dimostrato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risultati chiave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842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Correttezza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78308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E[W₁] simulato = analitico, errore &lt; 0.23% su tutte le 8 configurazioni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8529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Consistenza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6517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di Little verificata su entrambe le code (scarto ≤ 0.16%)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721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520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352044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prioritaria è indipendente dal traffico di Tipo 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384048" cy="384048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389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Collasso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438912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caso saturo θ₂ = capacità residua (σ − λ₁), errore 0.13%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5896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52578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40480" y="52578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Coda 2 è molto più reattiva di Coda 1 a carico e disponibilità del server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Possibili sviluppi futuri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e 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Simulare le architetture a server dedicati del paper (interruzioni simultanee o asimmetriche)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Arrivi correlati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Introdurre dipendenza statistica tra le classi tramite pgf congiunta non fattorizzabile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Interruzioni complesse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on/off markoviani al posto del semplice schema Bernoulli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38862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time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4663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Modellare separatamente periodi di guasto e tempi di ripristino del server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 prodotto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Simulatore OMNeT++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ModuloCode.cc, SistemaPriorita.ned, omnetpp.ini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081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85292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di analisi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85292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analisi_risultati.py — estrazione dati e calcolo IC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056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877056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Relazione tecnica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877056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LaTeX con teoria, metodologia e analisi completa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901184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1297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901184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4901184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versionato e riproducibile su GitHub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206240" cy="420624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5303520"/>
            <a:ext cx="2377440" cy="23774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1371600"/>
            <a:ext cx="3840480" cy="384048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32004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Pio Trotta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matteopio.trotta@studio.unibo.it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di Sistemi · Progetto 10 · OMNeT++ 6.3.0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10 - Simulazione di Sistemi</dc:title>
  <dc:subject>PptxGenJS Presentation</dc:subject>
  <dc:creator>Matteo Pio Trotta</dc:creator>
  <cp:lastModifiedBy>Matteo Pio Trotta</cp:lastModifiedBy>
  <cp:revision>1</cp:revision>
  <dcterms:created xsi:type="dcterms:W3CDTF">2026-06-12T14:30:07Z</dcterms:created>
  <dcterms:modified xsi:type="dcterms:W3CDTF">2026-06-12T14:30:07Z</dcterms:modified>
</cp:coreProperties>
</file>